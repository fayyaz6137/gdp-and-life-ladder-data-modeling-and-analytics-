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1"/>
  </p:notesMasterIdLst>
  <p:sldIdLst>
    <p:sldId id="258" r:id="rId2"/>
    <p:sldId id="263" r:id="rId3"/>
    <p:sldId id="280" r:id="rId4"/>
    <p:sldId id="276" r:id="rId5"/>
    <p:sldId id="266" r:id="rId6"/>
    <p:sldId id="273" r:id="rId7"/>
    <p:sldId id="278" r:id="rId8"/>
    <p:sldId id="274" r:id="rId9"/>
    <p:sldId id="271" r:id="rId10"/>
  </p:sldIdLst>
  <p:sldSz cx="9144000" cy="5143500" type="screen16x9"/>
  <p:notesSz cx="6858000" cy="9144000"/>
  <p:embeddedFontLst>
    <p:embeddedFont>
      <p:font typeface="Lekton" panose="020B0604020202020204" charset="0"/>
      <p:regular r:id="rId12"/>
      <p:bold r:id="rId13"/>
      <p:italic r:id="rId14"/>
    </p:embeddedFont>
    <p:embeddedFont>
      <p:font typeface="Titillium Web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5C9167-89D3-F138-0BC1-4D0DCD0BF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>
            <a:extLst>
              <a:ext uri="{FF2B5EF4-FFF2-40B4-BE49-F238E27FC236}">
                <a16:creationId xmlns:a16="http://schemas.microsoft.com/office/drawing/2014/main" id="{CEB5D212-41A9-8CB6-D38B-52127575D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>
            <a:extLst>
              <a:ext uri="{FF2B5EF4-FFF2-40B4-BE49-F238E27FC236}">
                <a16:creationId xmlns:a16="http://schemas.microsoft.com/office/drawing/2014/main" id="{DA3B1566-3EAC-CF82-5F4D-033761433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115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A3B4390-78F7-338B-8F01-150E3C8F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7CBAF3AC-0CE8-E989-4059-AB67553A1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C0C3155C-711E-F852-8F56-A262F9C9C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5415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49CFB33-3D3B-6B81-52BD-9202315C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>
            <a:extLst>
              <a:ext uri="{FF2B5EF4-FFF2-40B4-BE49-F238E27FC236}">
                <a16:creationId xmlns:a16="http://schemas.microsoft.com/office/drawing/2014/main" id="{D83E73B7-2FCE-5994-BB5F-30E7BF121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>
            <a:extLst>
              <a:ext uri="{FF2B5EF4-FFF2-40B4-BE49-F238E27FC236}">
                <a16:creationId xmlns:a16="http://schemas.microsoft.com/office/drawing/2014/main" id="{27E5917A-0238-E4AA-369E-1740AABD5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030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C3EC3E-E542-73D1-E016-22655AB6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>
            <a:extLst>
              <a:ext uri="{FF2B5EF4-FFF2-40B4-BE49-F238E27FC236}">
                <a16:creationId xmlns:a16="http://schemas.microsoft.com/office/drawing/2014/main" id="{65271087-2D1D-B636-86E0-7B5B3E07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>
            <a:extLst>
              <a:ext uri="{FF2B5EF4-FFF2-40B4-BE49-F238E27FC236}">
                <a16:creationId xmlns:a16="http://schemas.microsoft.com/office/drawing/2014/main" id="{BE1A4F92-AC6D-FE21-153A-870B8CC0F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610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8F63B22-90D4-D90A-DF9E-0F6FDA65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>
            <a:extLst>
              <a:ext uri="{FF2B5EF4-FFF2-40B4-BE49-F238E27FC236}">
                <a16:creationId xmlns:a16="http://schemas.microsoft.com/office/drawing/2014/main" id="{6EA401A6-B7FD-BB9C-C038-77E79EF63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>
            <a:extLst>
              <a:ext uri="{FF2B5EF4-FFF2-40B4-BE49-F238E27FC236}">
                <a16:creationId xmlns:a16="http://schemas.microsoft.com/office/drawing/2014/main" id="{45CE4858-DA54-4E4D-BF39-0467F4AF1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0853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jaypalsinghlo/world-happiness-report-202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api.worldbank.org/v2/country/all/indicator/NY.GDP.PCAP.CD?date=2020:2025&amp;format=json&amp;per_page=20000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NmFkN2MyNmUtYmQyYi00ZTRhLTg4NTQtODlmMzM1YTM1NmUzIiwidCI6IjMyYjI3ZjU0LTA5ZmItNDhhZi05YzE3LTBmOThhNWQ1OThiZiIsImMiOjh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-12900" y="207900"/>
            <a:ext cx="4584900" cy="8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Management Project</a:t>
            </a:r>
            <a:endParaRPr sz="18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Fayyaz Hussain Shah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946912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f.shah5@campus.unimib.it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>
            <a:cxnSpLocks/>
          </p:cNvCxnSpPr>
          <p:nvPr/>
        </p:nvCxnSpPr>
        <p:spPr>
          <a:xfrm>
            <a:off x="479298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4636006" y="1684461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Lekton"/>
                <a:ea typeface="Lekton"/>
                <a:cs typeface="Lekton"/>
                <a:sym typeface="Lekton"/>
              </a:rPr>
              <a:t>What is the relationship between income (Log GDP) and happiness (Life Ladder)?</a:t>
            </a:r>
            <a:endParaRPr sz="4000" b="1" dirty="0">
              <a:solidFill>
                <a:srgbClr val="000000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3" name="Picture 2" descr="A graph with a line and dots">
            <a:extLst>
              <a:ext uri="{FF2B5EF4-FFF2-40B4-BE49-F238E27FC236}">
                <a16:creationId xmlns:a16="http://schemas.microsoft.com/office/drawing/2014/main" id="{662B047E-28F6-EC02-38F6-0AE8A518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" y="1017639"/>
            <a:ext cx="4694621" cy="36674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4"/>
            <a:ext cx="8010000" cy="47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Introduction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457200" indent="-317500">
              <a:lnSpc>
                <a:spcPct val="115000"/>
              </a:lnSpc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Problem Statement </a:t>
            </a:r>
          </a:p>
          <a:p>
            <a:pPr marL="139700" lvl="8">
              <a:lnSpc>
                <a:spcPct val="115000"/>
              </a:lnSpc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- To Perform EDA on the relationship of Logged GDP per capita of the country and it’s 	Happiness score – Life Ladder.</a:t>
            </a:r>
          </a:p>
          <a:p>
            <a:pPr marL="457200" indent="-317500">
              <a:lnSpc>
                <a:spcPct val="150000"/>
              </a:lnSpc>
              <a:spcBef>
                <a:spcPts val="100"/>
              </a:spcBef>
              <a:spcAft>
                <a:spcPts val="100"/>
              </a:spcAft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Project Goals</a:t>
            </a:r>
          </a:p>
          <a:p>
            <a:pPr marL="139700" lvl="1">
              <a:lnSpc>
                <a:spcPct val="115000"/>
              </a:lnSpc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Collect recent data from an API source (2021–2024)</a:t>
            </a:r>
          </a:p>
          <a:p>
            <a:pPr marL="139700" lvl="1"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- Integrate both datasets into a single standardized dataset</a:t>
            </a:r>
          </a:p>
          <a:p>
            <a:pPr marL="139700" lvl="1"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Assess and improve data quality</a:t>
            </a:r>
          </a:p>
          <a:p>
            <a:pPr marL="139700" lvl="1"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Store the final dataset in SQL and NoSQL databases</a:t>
            </a:r>
          </a:p>
          <a:p>
            <a:pPr marL="139700" lvl="1"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Perform Exploratory Data Analysis (EDA)</a:t>
            </a:r>
          </a:p>
          <a:p>
            <a:pPr marL="139700" lvl="1"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Identify trends in Life Ladder and Log GDP per capita</a:t>
            </a:r>
          </a:p>
          <a:p>
            <a:pPr marL="457200" indent="-317500">
              <a:lnSpc>
                <a:spcPct val="115000"/>
              </a:lnSpc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  <a:endParaRPr lang="en-US" sz="1200" b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 lvl="1">
              <a:lnSpc>
                <a:spcPct val="115000"/>
              </a:lnSpc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What is the relationship between income (Log GDP) and happiness (Life Ladder)?</a:t>
            </a:r>
          </a:p>
          <a:p>
            <a:pPr marL="139700" lvl="1">
              <a:lnSpc>
                <a:spcPct val="115000"/>
              </a:lnSpc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Top Performers of Life Ladder and GDP</a:t>
            </a:r>
          </a:p>
          <a:p>
            <a:pPr marL="139700" lvl="1">
              <a:lnSpc>
                <a:spcPct val="115000"/>
              </a:lnSpc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Evolution of GDP and Life Ladder Globally</a:t>
            </a:r>
          </a:p>
          <a:p>
            <a:pPr marL="139700" lvl="1">
              <a:lnSpc>
                <a:spcPct val="115000"/>
              </a:lnSpc>
              <a:spcBef>
                <a:spcPts val="1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	- Evolution of Italy’s Life Ladder and GDP throughout.</a:t>
            </a:r>
          </a:p>
          <a:p>
            <a:pPr marL="139700" lvl="1">
              <a:spcBef>
                <a:spcPts val="100"/>
              </a:spcBef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</a:pPr>
            <a:endParaRPr lang="it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</a:pP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1B24CC-BF82-F003-C869-E91ADA80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>
            <a:extLst>
              <a:ext uri="{FF2B5EF4-FFF2-40B4-BE49-F238E27FC236}">
                <a16:creationId xmlns:a16="http://schemas.microsoft.com/office/drawing/2014/main" id="{B94D7C39-2704-36A2-BB8A-C6EB3ECF1BF9}"/>
              </a:ext>
            </a:extLst>
          </p:cNvPr>
          <p:cNvSpPr txBox="1"/>
          <p:nvPr/>
        </p:nvSpPr>
        <p:spPr>
          <a:xfrm>
            <a:off x="493506" y="49003"/>
            <a:ext cx="8010000" cy="5045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Technical Brief </a:t>
            </a:r>
            <a:endParaRPr lang="en-PK"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>
              <a:lnSpc>
                <a:spcPct val="115000"/>
              </a:lnSpc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Data source 1 (</a:t>
            </a: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3"/>
              </a:rPr>
              <a:t>Kaggle Dataset</a:t>
            </a: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 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contains the following data for year </a:t>
            </a: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2005-20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,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Country Name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Year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Log (GDP per capita)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Happiness Score</a:t>
            </a:r>
          </a:p>
          <a:p>
            <a:pPr marL="139700" lvl="0" algn="l" rtl="0">
              <a:spcAft>
                <a:spcPts val="0"/>
              </a:spcAft>
              <a:buClr>
                <a:srgbClr val="333333"/>
              </a:buClr>
              <a:buSzPts val="1400"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>
              <a:buClr>
                <a:srgbClr val="333333"/>
              </a:buClr>
              <a:buSzPts val="1400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Data source 2 (</a:t>
            </a: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4"/>
              </a:rPr>
              <a:t>World Bank Open API Endpoint</a:t>
            </a: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 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contains the following data for year </a:t>
            </a: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2001-24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,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Country Name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Year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GDP per capita</a:t>
            </a:r>
          </a:p>
          <a:p>
            <a:pPr marL="425450" lvl="0" indent="-285750" algn="l" rtl="0">
              <a:spcAft>
                <a:spcPts val="0"/>
              </a:spcAft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Happiness Score</a:t>
            </a:r>
          </a:p>
          <a:p>
            <a:pPr marL="139700" lvl="0" algn="l" rtl="0">
              <a:spcAft>
                <a:spcPts val="0"/>
              </a:spcAft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 lvl="1"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Issues that will be handled in Data Transformation :</a:t>
            </a:r>
          </a:p>
          <a:p>
            <a:pPr marL="425450" lvl="0" indent="-285750"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values of GDP in Source 1</a:t>
            </a:r>
          </a:p>
          <a:p>
            <a:pPr marL="425450" indent="-285750"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some data of entire year for some countries in Source 1</a:t>
            </a:r>
          </a:p>
          <a:p>
            <a:pPr marL="425450" lvl="0" indent="-285750"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API returns the data in JSON format in Source 2</a:t>
            </a:r>
          </a:p>
          <a:p>
            <a:pPr marL="425450" indent="-285750"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GDP is not logged in Source 2</a:t>
            </a:r>
          </a:p>
          <a:p>
            <a:pPr marL="425450" lvl="0" indent="-285750"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Column Names and types mismatch</a:t>
            </a:r>
          </a:p>
          <a:p>
            <a:pPr marL="139700" lvl="0" algn="l" rtl="0">
              <a:spcAft>
                <a:spcPts val="0"/>
              </a:spcAft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Note: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More Columns in both sources, but we will use and save only above mentioned in our final DB</a:t>
            </a:r>
          </a:p>
          <a:p>
            <a:pPr marL="139700"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Final Transformed and Merged Data will be in SQL DB</a:t>
            </a:r>
          </a:p>
          <a:p>
            <a:pPr marL="139700" lvl="0" algn="l" rtl="0">
              <a:spcAft>
                <a:spcPts val="0"/>
              </a:spcAft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 lvl="0" algn="l" rtl="0">
              <a:spcAft>
                <a:spcPts val="0"/>
              </a:spcAft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93825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7E1C437-7E51-E7A4-9CBB-C2738129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A6720C51-D25A-1E76-C613-868977A07D65}"/>
              </a:ext>
            </a:extLst>
          </p:cNvPr>
          <p:cNvSpPr txBox="1"/>
          <p:nvPr/>
        </p:nvSpPr>
        <p:spPr>
          <a:xfrm>
            <a:off x="470258" y="206494"/>
            <a:ext cx="8010000" cy="34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GDP and Happiness Score in Data</a:t>
            </a: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b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</a:br>
            <a:b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</a:br>
            <a:b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</a:b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9" name="Google Shape;154;p29">
            <a:extLst>
              <a:ext uri="{FF2B5EF4-FFF2-40B4-BE49-F238E27FC236}">
                <a16:creationId xmlns:a16="http://schemas.microsoft.com/office/drawing/2014/main" id="{0E71E3E5-5EE5-0E0A-B99A-AAC64CB42207}"/>
              </a:ext>
            </a:extLst>
          </p:cNvPr>
          <p:cNvSpPr txBox="1"/>
          <p:nvPr/>
        </p:nvSpPr>
        <p:spPr>
          <a:xfrm>
            <a:off x="540000" y="484449"/>
            <a:ext cx="3962258" cy="418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spcBef>
                <a:spcPts val="1000"/>
              </a:spcBef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is GDP and how it is calculated ?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monetary value of all final goods and services produced within a country in a period (usually a year). </a:t>
            </a:r>
          </a:p>
          <a:p>
            <a:pPr lvl="0">
              <a:spcBef>
                <a:spcPts val="1000"/>
              </a:spcBef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GDP=C+I+G+(X−M)</a:t>
            </a:r>
          </a:p>
          <a:p>
            <a:pPr lvl="0">
              <a:spcBef>
                <a:spcPts val="1000"/>
              </a:spcBef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– Consumption - Household spending on goods/services (food, rent, transport)</a:t>
            </a:r>
          </a:p>
          <a:p>
            <a:pPr lvl="0">
              <a:spcBef>
                <a:spcPts val="1000"/>
              </a:spcBef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– Investment - Business spending on machinery, buildings, inventory; residential construction</a:t>
            </a:r>
          </a:p>
          <a:p>
            <a:pPr lvl="0">
              <a:spcBef>
                <a:spcPts val="1000"/>
              </a:spcBef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– Government Spending - Public services, infrastructure, salaries (excluding transfers)</a:t>
            </a:r>
          </a:p>
          <a:p>
            <a:pPr lvl="0">
              <a:spcBef>
                <a:spcPts val="1000"/>
              </a:spcBef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X – M </a:t>
            </a: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(Net Exports) - Exports minus imports; measures international trade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GDP per capita: </a:t>
            </a: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GDP/Population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Log GDP per Capita : </a:t>
            </a: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ln(GDP/Population)</a:t>
            </a:r>
          </a:p>
          <a:p>
            <a:pPr lvl="0">
              <a:spcBef>
                <a:spcPts val="1000"/>
              </a:spcBef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spcBef>
                <a:spcPts val="1000"/>
              </a:spcBef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2" name="Google Shape;154;p29">
            <a:extLst>
              <a:ext uri="{FF2B5EF4-FFF2-40B4-BE49-F238E27FC236}">
                <a16:creationId xmlns:a16="http://schemas.microsoft.com/office/drawing/2014/main" id="{19A4217E-4233-CD6A-085A-6F12D4432061}"/>
              </a:ext>
            </a:extLst>
          </p:cNvPr>
          <p:cNvSpPr txBox="1"/>
          <p:nvPr/>
        </p:nvSpPr>
        <p:spPr>
          <a:xfrm>
            <a:off x="4572000" y="478510"/>
            <a:ext cx="3978000" cy="418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spcBef>
                <a:spcPts val="1000"/>
              </a:spcBef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is Life Ladder Score and how it is calculated ?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Subjective well-being measure; people rate their life from 0 (worst) to 10 (best).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Survey method: “Imagine a ladder from 0–10. On which step do you feel you stand today?”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Country score: Average of all survey responses.</a:t>
            </a:r>
          </a:p>
          <a:p>
            <a:pPr lvl="0">
              <a:spcBef>
                <a:spcPts val="1000"/>
              </a:spcBef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Other Factors affecting Life Ladder: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Social support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Healthy life expectancy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Freedom to make life choices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Generosity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Perceptions of corruption</a:t>
            </a:r>
          </a:p>
          <a:p>
            <a:pPr lvl="0">
              <a:spcBef>
                <a:spcPts val="1000"/>
              </a:spcBef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58430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540000" y="384725"/>
            <a:ext cx="8010000" cy="4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Raw data was missing the values for many countries for a few years, which would have made the graphs represent in correct visuals hence the missing values were added via statistical modelling in Data Transformation phase.</a:t>
            </a: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Scatter Plot wit Regression slope line clearly defines the relationship between GDP and Happiness of a country</a:t>
            </a: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After Analyzing the sorted graph, the top performers of GDP surfaced and it's not a surprise for them to be also the toppers of happiness score</a:t>
            </a: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overall trajectile of Evolution of GDP, as a planet, is Linear even though we have an influencing pandemic in between the timeline.</a:t>
            </a: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Individual countries’ trajectile shows a Linear GDP through time however various categories to be formed where the Happiness ladder fluctuated or remain linear with GDP.</a:t>
            </a: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Final Scatterplot Graph shows us the domain in which both players of all the countries have stayed in during all this time – The peak and bottom of all – an enclosed circle with no outliers but divisions 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457200" lvl="0" indent="-317500">
              <a:spcBef>
                <a:spcPts val="1000"/>
              </a:spcBef>
              <a:buClr>
                <a:srgbClr val="333333"/>
              </a:buClr>
              <a:buSzPts val="1400"/>
              <a:buFont typeface="Lekton"/>
              <a:buChar char="●"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130BEBD-1472-9FD4-627A-FF04E5EC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>
            <a:extLst>
              <a:ext uri="{FF2B5EF4-FFF2-40B4-BE49-F238E27FC236}">
                <a16:creationId xmlns:a16="http://schemas.microsoft.com/office/drawing/2014/main" id="{AEDCF418-8E03-FD9E-3A00-179A1FDAB3B1}"/>
              </a:ext>
            </a:extLst>
          </p:cNvPr>
          <p:cNvSpPr txBox="1"/>
          <p:nvPr/>
        </p:nvSpPr>
        <p:spPr>
          <a:xfrm>
            <a:off x="567000" y="7703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Relationship of the GDP of a country and the happiness of its people</a:t>
            </a:r>
          </a:p>
        </p:txBody>
      </p:sp>
      <p:sp>
        <p:nvSpPr>
          <p:cNvPr id="4" name="Google Shape;164;p31">
            <a:extLst>
              <a:ext uri="{FF2B5EF4-FFF2-40B4-BE49-F238E27FC236}">
                <a16:creationId xmlns:a16="http://schemas.microsoft.com/office/drawing/2014/main" id="{3D027F3B-A28E-B438-CA8E-3AB75260299A}"/>
              </a:ext>
            </a:extLst>
          </p:cNvPr>
          <p:cNvSpPr txBox="1"/>
          <p:nvPr/>
        </p:nvSpPr>
        <p:spPr>
          <a:xfrm>
            <a:off x="133713" y="492076"/>
            <a:ext cx="3944040" cy="4389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Strength of relationship</a:t>
            </a: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closeness of the points to the regression line shows the strength and the opposite reflects weakness. </a:t>
            </a:r>
          </a:p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Direction of relationship</a:t>
            </a: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upward slope shows partial direct proportionality – partial because of the not so strong relationship</a:t>
            </a:r>
          </a:p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Exceptions – Outliers</a:t>
            </a: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Countries above the red line: happier than expected for their GDP </a:t>
            </a: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Countries below the line : less happy than expected for their GDP</a:t>
            </a:r>
          </a:p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sz="12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Summary</a:t>
            </a:r>
          </a:p>
          <a:p>
            <a:pPr marL="139700"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Scatter + regression line shows how Life Ladder changes with Log GDP per capita.</a:t>
            </a:r>
          </a:p>
          <a:p>
            <a:pPr marL="139700">
              <a:spcBef>
                <a:spcPts val="6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Each point represents a country-year, and the red line shows the average trend.</a:t>
            </a:r>
          </a:p>
          <a:p>
            <a:pPr marL="139700">
              <a:spcBef>
                <a:spcPts val="600"/>
              </a:spcBef>
              <a:buClr>
                <a:srgbClr val="333333"/>
              </a:buClr>
              <a:buSzPts val="1400"/>
            </a:pPr>
            <a:r>
              <a:rPr lang="en-US" sz="12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Points close to the line mean strong relationship; outliers show exceptions.</a:t>
            </a:r>
          </a:p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endParaRPr lang="en-US" sz="1200" b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425450" indent="-285750">
              <a:spcBef>
                <a:spcPts val="1000"/>
              </a:spcBef>
              <a:buClr>
                <a:srgbClr val="333333"/>
              </a:buClr>
              <a:buSzPts val="14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2" name="Picture 1" descr="A graph with a line and dots">
            <a:extLst>
              <a:ext uri="{FF2B5EF4-FFF2-40B4-BE49-F238E27FC236}">
                <a16:creationId xmlns:a16="http://schemas.microsoft.com/office/drawing/2014/main" id="{FEA6E7FA-9877-B0F5-007F-112CA6BBF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106" y="863650"/>
            <a:ext cx="4667181" cy="364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02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6E780AA-A352-CED3-A328-DA0CF6B4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>
            <a:extLst>
              <a:ext uri="{FF2B5EF4-FFF2-40B4-BE49-F238E27FC236}">
                <a16:creationId xmlns:a16="http://schemas.microsoft.com/office/drawing/2014/main" id="{C418F1CD-340B-BB06-778B-49C3F9A9EE0B}"/>
              </a:ext>
            </a:extLst>
          </p:cNvPr>
          <p:cNvSpPr txBox="1"/>
          <p:nvPr/>
        </p:nvSpPr>
        <p:spPr>
          <a:xfrm>
            <a:off x="388620" y="77030"/>
            <a:ext cx="818838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Top Performers of GDP and Life Ladder</a:t>
            </a:r>
            <a:endParaRPr sz="1200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4" name="Google Shape;164;p31">
            <a:extLst>
              <a:ext uri="{FF2B5EF4-FFF2-40B4-BE49-F238E27FC236}">
                <a16:creationId xmlns:a16="http://schemas.microsoft.com/office/drawing/2014/main" id="{4955E879-6163-A759-9163-5757205B75E0}"/>
              </a:ext>
            </a:extLst>
          </p:cNvPr>
          <p:cNvSpPr txBox="1"/>
          <p:nvPr/>
        </p:nvSpPr>
        <p:spPr>
          <a:xfrm>
            <a:off x="257700" y="754379"/>
            <a:ext cx="3944040" cy="3901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This visual studies the top performing countries through out the years and see if they are commonly performing for both or not.</a:t>
            </a: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 top performing countries do show a strong positive connection between the GDP and Happiness score however within them there are many contradictory outliers </a:t>
            </a: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There are various Middle East countries who couldn’t achieve the same happiness score even after matching the GDP with the top runners</a:t>
            </a: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This concludes that though Happiness score has strong ties with the GDP but it is not the only contributing factor</a:t>
            </a: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endParaRPr lang="en-US" sz="16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Google Shape;164;p31">
            <a:extLst>
              <a:ext uri="{FF2B5EF4-FFF2-40B4-BE49-F238E27FC236}">
                <a16:creationId xmlns:a16="http://schemas.microsoft.com/office/drawing/2014/main" id="{B063EAB8-4725-D1DD-078C-E52E53492D63}"/>
              </a:ext>
            </a:extLst>
          </p:cNvPr>
          <p:cNvSpPr txBox="1"/>
          <p:nvPr/>
        </p:nvSpPr>
        <p:spPr>
          <a:xfrm>
            <a:off x="4701540" y="3870810"/>
            <a:ext cx="3944040" cy="119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algn="ctr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  <a:hlinkClick r:id="rId3"/>
              </a:rPr>
              <a:t>Visual 2</a:t>
            </a:r>
            <a:endParaRPr lang="en-US" b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NOTE : The Graph on top is incomplete. Please click on the link above to view the complete scrollable graph.</a:t>
            </a:r>
          </a:p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b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</a:br>
            <a:endParaRPr lang="en-US" sz="16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A6F68E-4E9F-3435-195A-0C1F0E74E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360" y="731520"/>
            <a:ext cx="4930497" cy="300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9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14F5270-88F3-70EB-A4FC-1B004B68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>
            <a:extLst>
              <a:ext uri="{FF2B5EF4-FFF2-40B4-BE49-F238E27FC236}">
                <a16:creationId xmlns:a16="http://schemas.microsoft.com/office/drawing/2014/main" id="{67E4D013-E8E4-35AC-497B-43172F65D7DA}"/>
              </a:ext>
            </a:extLst>
          </p:cNvPr>
          <p:cNvSpPr txBox="1"/>
          <p:nvPr/>
        </p:nvSpPr>
        <p:spPr>
          <a:xfrm>
            <a:off x="567000" y="7703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Evolution of Life Ladder and GDP in Italy thought out the time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Google Shape;164;p31">
            <a:extLst>
              <a:ext uri="{FF2B5EF4-FFF2-40B4-BE49-F238E27FC236}">
                <a16:creationId xmlns:a16="http://schemas.microsoft.com/office/drawing/2014/main" id="{0A6EB2A7-1B0A-D39D-33EB-0D756E5F1B22}"/>
              </a:ext>
            </a:extLst>
          </p:cNvPr>
          <p:cNvSpPr txBox="1"/>
          <p:nvPr/>
        </p:nvSpPr>
        <p:spPr>
          <a:xfrm>
            <a:off x="4201740" y="3737313"/>
            <a:ext cx="4502019" cy="110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lvl="0">
              <a:spcBef>
                <a:spcPts val="1000"/>
              </a:spcBef>
              <a:buClr>
                <a:srgbClr val="333333"/>
              </a:buClr>
              <a:buSzPts val="1400"/>
            </a:pPr>
            <a:b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</a:br>
            <a:endParaRPr lang="en-US" sz="16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2" name="Picture 1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66D358D8-83E2-52A3-ED9E-321A44C6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9" y="1087029"/>
            <a:ext cx="4116566" cy="3280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graph on a screen&#10;&#10;AI-generated content may be incorrect.">
            <a:extLst>
              <a:ext uri="{FF2B5EF4-FFF2-40B4-BE49-F238E27FC236}">
                <a16:creationId xmlns:a16="http://schemas.microsoft.com/office/drawing/2014/main" id="{FDEC5388-9663-CB35-38CD-81B1560BA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979" y="1087028"/>
            <a:ext cx="3925780" cy="3267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2465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5"/>
            <a:ext cx="3288900" cy="4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t" b="1">
                <a:latin typeface="Titillium Web"/>
                <a:ea typeface="Titillium Web"/>
                <a:cs typeface="Titillium Web"/>
                <a:sym typeface="Titillium Web"/>
              </a:rPr>
              <a:t>LICENCE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What is the relationship between income (Log GDP) and happiness (Life Ladder)?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it" sz="1100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by</a:t>
            </a:r>
            <a:r>
              <a:rPr lang="it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 Fayyaz Hussain Shah</a:t>
            </a:r>
            <a:r>
              <a:rPr lang="it" sz="1100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, is licensed under a </a:t>
            </a:r>
            <a:r>
              <a:rPr lang="en-US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CC-BY-SA</a:t>
            </a:r>
            <a:endParaRPr sz="1100" b="1" dirty="0">
              <a:solidFill>
                <a:schemeClr val="dk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3158</TotalTime>
  <Words>1006</Words>
  <Application>Microsoft Office PowerPoint</Application>
  <PresentationFormat>On-screen Show (16:9)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Titillium Web</vt:lpstr>
      <vt:lpstr>Lekton</vt:lpstr>
      <vt:lpstr>Simple Light</vt:lpstr>
      <vt:lpstr>Data Management Project Student  Individual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Fayyaz Hussain Shah</dc:creator>
  <cp:lastModifiedBy>Fayyaz Hussain Shah</cp:lastModifiedBy>
  <cp:revision>13</cp:revision>
  <dcterms:modified xsi:type="dcterms:W3CDTF">2026-01-27T11:50:12Z</dcterms:modified>
</cp:coreProperties>
</file>